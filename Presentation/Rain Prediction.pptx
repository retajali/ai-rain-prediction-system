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291" r:id="rId6"/>
    <p:sldId id="290" r:id="rId7"/>
    <p:sldId id="279" r:id="rId8"/>
    <p:sldId id="295" r:id="rId9"/>
    <p:sldId id="296" r:id="rId10"/>
    <p:sldId id="280" r:id="rId11"/>
    <p:sldId id="294" r:id="rId12"/>
    <p:sldId id="297" r:id="rId13"/>
    <p:sldId id="298" r:id="rId14"/>
    <p:sldId id="299" r:id="rId15"/>
    <p:sldId id="300" r:id="rId16"/>
    <p:sldId id="301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655" autoAdjust="0"/>
  </p:normalViewPr>
  <p:slideViewPr>
    <p:cSldViewPr snapToGrid="0">
      <p:cViewPr>
        <p:scale>
          <a:sx n="33" d="100"/>
          <a:sy n="33" d="100"/>
        </p:scale>
        <p:origin x="828" y="150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385E-E582-1649-43ED-59325980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EEFA8-2806-9B3C-91DB-4DCA7F81F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E69CA-EB5A-C5F7-E3E8-D8C2DFE5D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63D25-7687-FF5F-9F09-02BF35069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636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7A37-1F15-1E36-C82E-538BF840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A6219-BBE6-D416-D7FE-8B20B075E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B6D95-6741-593A-B606-13E51D9E7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03ADD-CDE2-AF71-3945-978EA1B63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31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FA00-8CC4-D20D-88AA-77C717DA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F525C-FF10-EA4D-F06D-AD3F51338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E7EF5-3A31-68EB-9CFA-6E72DEC7F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C883-A146-7910-5892-41AE43ADF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779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E0AC-EAB5-7071-306D-AF84728F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7C83E-3804-8A4B-028C-0919F8F90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D6BBC-4B47-9073-88ED-05E87148B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06656-A26F-4A5E-8653-D60C53013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17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7A41-646B-B0D5-8DCB-CA49745F4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2F55E-B982-F053-A933-1F15FA91F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F2FBB-F264-9829-3386-381D06C3A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2F807-C8C1-DFD7-85F8-6AC710FB7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164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DC14-60E5-1A5F-CB28-AE7E30DF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EEE8C-0A3F-1330-69F2-8B296908B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C54F6-F503-E8DA-0BB6-1E43CC60B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BF1EC-B267-3983-2CD3-CCD91C414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794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C8D2-E096-619A-F59C-6CB74563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8F734-95B3-C175-8967-7B7711031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ACB4D-FCBA-53B5-1BE2-6CBD0BD9C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68E93-99D9-E7EB-1C17-C29B2E41B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72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3A825-01AF-80D3-5C3E-D6E5C0BF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0557E-3F90-3076-ED10-77CD9EE2C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05A3A-A573-3FB4-2EEE-35833F1D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9A5F5-46B4-931B-07ED-0F9DAC714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651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E511-1FCB-203B-1A7F-8DBAB8EC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A2F0A-0838-F719-BED2-4FEFBEB33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7F87A-E0E6-4B01-F7B3-A5EA39EC1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241B5-B9F2-4031-9408-4A2F2A423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183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0E59-C3AA-4B2E-560D-E96386AE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789BE-8CD2-5F5E-77F0-5F881E286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7C08F-6E00-A1B6-EDA0-44A5860B6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8DF4-5EF1-4F16-D51A-B3A48CC80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589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3624-C090-0ABF-06C3-3ED047BDA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D7176-7A6F-BF85-2D34-10B4E968F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E1E10-9E6B-36C7-4D2D-F7B32DCFA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7372F-D090-F12A-7031-61C7755AF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593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71E2B-CE43-0B9B-2106-A4314AF3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9464401-230E-FE8A-8F03-0A0080909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Rain Prediction</a:t>
            </a:r>
            <a:b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0CE07-E276-1714-44CE-ABE450A02987}"/>
              </a:ext>
            </a:extLst>
          </p:cNvPr>
          <p:cNvSpPr txBox="1"/>
          <p:nvPr/>
        </p:nvSpPr>
        <p:spPr>
          <a:xfrm>
            <a:off x="6946900" y="4929990"/>
            <a:ext cx="562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CAI3101 – Introduction to Artificial Intelligence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15F760-0415-90E3-A5DF-E5276E7A1EF3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1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217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D115-7907-7BDE-7F1D-E7D92D48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BAB0AF-6E46-3839-0654-E2EA5A6CDBC5}"/>
              </a:ext>
            </a:extLst>
          </p:cNvPr>
          <p:cNvSpPr txBox="1">
            <a:spLocks/>
          </p:cNvSpPr>
          <p:nvPr/>
        </p:nvSpPr>
        <p:spPr>
          <a:xfrm>
            <a:off x="838200" y="3535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Supervisions</a:t>
            </a:r>
          </a:p>
          <a:p>
            <a:pPr algn="ctr"/>
            <a:endParaRPr lang="en-US" b="1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621707E-07BC-E95B-ABE3-04A4F154FB2A}"/>
              </a:ext>
            </a:extLst>
          </p:cNvPr>
          <p:cNvSpPr txBox="1">
            <a:spLocks/>
          </p:cNvSpPr>
          <p:nvPr/>
        </p:nvSpPr>
        <p:spPr>
          <a:xfrm>
            <a:off x="10373350" y="6356349"/>
            <a:ext cx="9875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A49DFD55-3C28-40EF-9E31-A92D2E4017FF}" type="slidenum">
              <a:rPr lang="en-US" smtClean="0">
                <a:latin typeface="Posterama" panose="020B0504020200020000" pitchFamily="34" charset="0"/>
                <a:cs typeface="Posterama" panose="020B0504020200020000" pitchFamily="34" charset="0"/>
              </a:rPr>
              <a:pPr>
                <a:spcAft>
                  <a:spcPts val="600"/>
                </a:spcAft>
              </a:pPr>
              <a:t>2</a:t>
            </a:fld>
            <a:endParaRPr lang="en-US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609D90-B37C-2D2A-383B-5280CDF74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812035"/>
              </p:ext>
            </p:extLst>
          </p:nvPr>
        </p:nvGraphicFramePr>
        <p:xfrm>
          <a:off x="838200" y="3037843"/>
          <a:ext cx="4841812" cy="121729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841812">
                  <a:extLst>
                    <a:ext uri="{9D8B030D-6E8A-4147-A177-3AD203B41FA5}">
                      <a16:colId xmlns:a16="http://schemas.microsoft.com/office/drawing/2014/main" val="1343889132"/>
                    </a:ext>
                  </a:extLst>
                </a:gridCol>
              </a:tblGrid>
              <a:tr h="12172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3600"/>
                        </a:spcAft>
                        <a:buNone/>
                      </a:pPr>
                      <a:r>
                        <a:rPr lang="en-CA" sz="3300" kern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Dr Mohamed Hamouda</a:t>
                      </a:r>
                      <a:endParaRPr lang="en-US" sz="4200" b="1" kern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5740" marR="205740" marT="0" marB="0" anchor="ctr"/>
                </a:tc>
                <a:extLst>
                  <a:ext uri="{0D108BD9-81ED-4DB2-BD59-A6C34878D82A}">
                    <a16:rowId xmlns:a16="http://schemas.microsoft.com/office/drawing/2014/main" val="77697987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B6FF89-0C16-B88D-2FA1-0E7D733E5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73952"/>
              </p:ext>
            </p:extLst>
          </p:nvPr>
        </p:nvGraphicFramePr>
        <p:xfrm>
          <a:off x="6252081" y="3034103"/>
          <a:ext cx="4841812" cy="121729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841812">
                  <a:extLst>
                    <a:ext uri="{9D8B030D-6E8A-4147-A177-3AD203B41FA5}">
                      <a16:colId xmlns:a16="http://schemas.microsoft.com/office/drawing/2014/main" val="1343889132"/>
                    </a:ext>
                  </a:extLst>
                </a:gridCol>
              </a:tblGrid>
              <a:tr h="12172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3600"/>
                        </a:spcAft>
                        <a:buNone/>
                      </a:pPr>
                      <a:r>
                        <a:rPr lang="en-CA" sz="3300" b="1" kern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enorite (Body)"/>
                          <a:ea typeface="Times New Roman" panose="02020603050405020304" pitchFamily="18" charset="0"/>
                        </a:rPr>
                        <a:t>ENG. Mohamed Moheb</a:t>
                      </a:r>
                      <a:endParaRPr lang="en-US" sz="3300" b="1" kern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enorite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6979873"/>
                  </a:ext>
                </a:extLst>
              </a:tr>
            </a:tbl>
          </a:graphicData>
        </a:graphic>
      </p:graphicFrame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F014AC-F5D9-5D80-5739-0C0436DD2383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2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61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1FE1-0EC1-F1A4-A080-BC5A23FA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68E4-4A90-7585-DDB5-687CDCDD1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7" y="1107072"/>
            <a:ext cx="3377727" cy="1325563"/>
          </a:xfrm>
        </p:spPr>
        <p:txBody>
          <a:bodyPr/>
          <a:lstStyle/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Prepared by:</a:t>
            </a:r>
            <a:b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5C834-AFCF-AB56-A5F5-5AA7E02B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7" y="2674013"/>
            <a:ext cx="4953310" cy="323589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Mahmoud Samer	231006523</a:t>
            </a:r>
          </a:p>
          <a:p>
            <a:r>
              <a:rPr lang="en-US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Rawan Atef		231005789</a:t>
            </a:r>
          </a:p>
          <a:p>
            <a:r>
              <a:rPr lang="en-US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Retaj Ali 		231005689</a:t>
            </a:r>
          </a:p>
          <a:p>
            <a:r>
              <a:rPr lang="en-US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Youstina Mamdouh	231014763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F6CB5A-6BF5-76E3-1447-EFBE89F0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>
                <a:latin typeface="Posterama" panose="020B0504020200020000" pitchFamily="34" charset="0"/>
                <a:cs typeface="Posterama" panose="020B0504020200020000" pitchFamily="34" charset="0"/>
              </a:rPr>
              <a:pPr/>
              <a:t>3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2BF931BE-7A5D-6272-8FB9-518C2C80F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39" y="1409918"/>
            <a:ext cx="4025705" cy="1170722"/>
          </a:xfrm>
        </p:spPr>
        <p:txBody>
          <a:bodyPr/>
          <a:lstStyle/>
          <a:p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B52D8-E3FD-442E-B92B-A80B9A89C053}"/>
              </a:ext>
            </a:extLst>
          </p:cNvPr>
          <p:cNvSpPr txBox="1"/>
          <p:nvPr/>
        </p:nvSpPr>
        <p:spPr>
          <a:xfrm>
            <a:off x="701039" y="3261698"/>
            <a:ext cx="64756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Weather prediction is an important real-world problem that affects daily life, agriculture, and transportation.</a:t>
            </a:r>
          </a:p>
          <a:p>
            <a:pPr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In this project, machine learning techniques are used to analyze historical weather data and predict rainfall.</a:t>
            </a:r>
          </a:p>
          <a:p>
            <a:pPr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The project demonstrates the complete machine learning workflow, starting from data preprocessing to model evaluation and prediction.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CE5321C-1E25-F19E-D505-A4CC4D8BFFB2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8848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4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8FF68-3BC8-A6E5-4327-DF4A17B09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189896-1F77-3FF6-B6A0-98BFC73C2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31ADA8F-A5B9-347E-2F1B-811FBAC7DAC7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5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55BB00-5B2A-A3A1-2D03-4F42EA0A3E85}"/>
              </a:ext>
            </a:extLst>
          </p:cNvPr>
          <p:cNvSpPr txBox="1">
            <a:spLocks/>
          </p:cNvSpPr>
          <p:nvPr/>
        </p:nvSpPr>
        <p:spPr>
          <a:xfrm>
            <a:off x="1322318" y="268360"/>
            <a:ext cx="7288282" cy="21211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t>Description</a:t>
            </a: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2F52D06-F59D-D743-A657-5ACA5D7D0F7F}"/>
              </a:ext>
            </a:extLst>
          </p:cNvPr>
          <p:cNvSpPr txBox="1">
            <a:spLocks/>
          </p:cNvSpPr>
          <p:nvPr/>
        </p:nvSpPr>
        <p:spPr>
          <a:xfrm>
            <a:off x="1322388" y="2763078"/>
            <a:ext cx="7288212" cy="34070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The goal of this project is to build a machine learning system that predicts:</a:t>
            </a:r>
          </a:p>
          <a:p>
            <a:r>
              <a:rPr lang="en-US" dirty="0" err="1">
                <a:latin typeface="Posterama" panose="020B0504020200020000" pitchFamily="34" charset="0"/>
                <a:cs typeface="Posterama" panose="020B0504020200020000" pitchFamily="34" charset="0"/>
              </a:rPr>
              <a:t>RainToday</a:t>
            </a: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dirty="0" err="1">
                <a:latin typeface="Posterama" panose="020B0504020200020000" pitchFamily="34" charset="0"/>
                <a:cs typeface="Posterama" panose="020B0504020200020000" pitchFamily="34" charset="0"/>
              </a:rPr>
              <a:t>RainTomorrow</a:t>
            </a: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Using historical weather features such as temperature, humidity, wind, and location.</a:t>
            </a:r>
          </a:p>
          <a:p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Multiple machine learning models are trained and compared to select the best-performing model</a:t>
            </a:r>
          </a:p>
        </p:txBody>
      </p:sp>
    </p:spTree>
    <p:extLst>
      <p:ext uri="{BB962C8B-B14F-4D97-AF65-F5344CB8AC3E}">
        <p14:creationId xmlns:p14="http://schemas.microsoft.com/office/powerpoint/2010/main" val="2770791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AA26-F1A9-0CF8-B17B-E12CEEC3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25890A-C66D-9FA6-78C2-277E96635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CCC01E3-97EA-0E3F-780D-433C2B186C8A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6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EA629B-CC62-3681-C785-C1B365262FE0}"/>
              </a:ext>
            </a:extLst>
          </p:cNvPr>
          <p:cNvSpPr txBox="1">
            <a:spLocks/>
          </p:cNvSpPr>
          <p:nvPr/>
        </p:nvSpPr>
        <p:spPr>
          <a:xfrm>
            <a:off x="560318" y="54072"/>
            <a:ext cx="7288282" cy="21211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t>Dataset Description</a:t>
            </a:r>
            <a:br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936DE7E-89E1-2212-27E1-BFC78FE8B7E2}"/>
              </a:ext>
            </a:extLst>
          </p:cNvPr>
          <p:cNvSpPr txBox="1">
            <a:spLocks/>
          </p:cNvSpPr>
          <p:nvPr/>
        </p:nvSpPr>
        <p:spPr>
          <a:xfrm>
            <a:off x="194126" y="2175249"/>
            <a:ext cx="6867854" cy="34070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b="1" spc="50" baseline="0"/>
            </a:lvl1pPr>
            <a:lvl2pPr marL="283464" lvl="1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>
              <a:solidFill>
                <a:schemeClr val="bg1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Dataset Source: Public weather dataset (CSV file)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File name: train_weather.csv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Number of samples: More than 200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Number of features: Multiple 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numerical and categorical features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Target variables:</a:t>
            </a:r>
          </a:p>
          <a:p>
            <a:pPr lvl="1"/>
            <a:r>
              <a:rPr lang="en-US" dirty="0" err="1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RainToday</a:t>
            </a:r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 (Binary Classification)</a:t>
            </a:r>
          </a:p>
          <a:p>
            <a:pPr lvl="1"/>
            <a:r>
              <a:rPr lang="en-US" dirty="0" err="1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RainTomorrow</a:t>
            </a:r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 (Binary Classification)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556652-EE4D-C252-C067-8432394AF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417" y="2969906"/>
            <a:ext cx="7669583" cy="217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14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370" y="499006"/>
            <a:ext cx="5386137" cy="1201019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Data Preprocessing</a:t>
            </a: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4CF57-DDA7-6677-E4D9-8B37CD68B107}"/>
              </a:ext>
            </a:extLst>
          </p:cNvPr>
          <p:cNvSpPr txBox="1"/>
          <p:nvPr/>
        </p:nvSpPr>
        <p:spPr>
          <a:xfrm>
            <a:off x="5932370" y="2720153"/>
            <a:ext cx="60976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The goal of this project is to build a machine learning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The following preprocessing steps were applied: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These steps ensure better model performance and fairness.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Handling missing values using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mean imputation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Encoding categorical variables using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Label Encoding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Feature scaling using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StandardScaler</a:t>
            </a:r>
            <a:endParaRPr lang="en-US" dirty="0">
              <a:solidFill>
                <a:schemeClr val="bg1">
                  <a:lumMod val="95000"/>
                </a:schemeClr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Splitting data into: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80% Training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20% Testing</a:t>
            </a:r>
          </a:p>
        </p:txBody>
      </p:sp>
      <p:pic>
        <p:nvPicPr>
          <p:cNvPr id="6" name="Picture 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DB6D5A8B-78D6-D3C6-E102-533E345AB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053"/>
          <a:stretch>
            <a:fillRect/>
          </a:stretch>
        </p:blipFill>
        <p:spPr>
          <a:xfrm>
            <a:off x="0" y="116773"/>
            <a:ext cx="5861786" cy="3166504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87AE4A2-EC78-CC3E-06F2-7D79F0730974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7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8AC56-6F24-6418-7A2C-F80DE419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9" y="3708400"/>
            <a:ext cx="5789517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7FA8-424D-2480-F1E3-346700AC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9FBF00-E82B-D144-CB11-7E013F68EEDD}"/>
              </a:ext>
            </a:extLst>
          </p:cNvPr>
          <p:cNvSpPr txBox="1">
            <a:spLocks/>
          </p:cNvSpPr>
          <p:nvPr/>
        </p:nvSpPr>
        <p:spPr>
          <a:xfrm>
            <a:off x="3186918" y="568962"/>
            <a:ext cx="8420100" cy="1780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en-US" sz="2800" b="1" cap="all" spc="150" baseline="0" dirty="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Machine Learning Models Used</a:t>
            </a:r>
          </a:p>
        </p:txBody>
      </p:sp>
      <p:sp>
        <p:nvSpPr>
          <p:cNvPr id="7" name="Content Placeholder 34">
            <a:extLst>
              <a:ext uri="{FF2B5EF4-FFF2-40B4-BE49-F238E27FC236}">
                <a16:creationId xmlns:a16="http://schemas.microsoft.com/office/drawing/2014/main" id="{342AD4DB-BB28-4836-6347-AB171B3EF73F}"/>
              </a:ext>
            </a:extLst>
          </p:cNvPr>
          <p:cNvSpPr txBox="1">
            <a:spLocks/>
          </p:cNvSpPr>
          <p:nvPr/>
        </p:nvSpPr>
        <p:spPr>
          <a:xfrm>
            <a:off x="3111921" y="3012708"/>
            <a:ext cx="6615647" cy="343996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The following models were trained and tested: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Decision Tree Classifier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Naive Bayes (Gaussian)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Artificial Neural Network (MLP)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Random Forest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Gradient Boosting</a:t>
            </a:r>
          </a:p>
          <a:p>
            <a:endParaRPr lang="en-US" dirty="0">
              <a:solidFill>
                <a:schemeClr val="bg1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67C0D8-BC5C-4429-A140-9DC842AAF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>
                <a:latin typeface="Posterama" panose="020B0504020200020000" pitchFamily="34" charset="0"/>
                <a:cs typeface="Posterama" panose="020B0504020200020000" pitchFamily="34" charset="0"/>
              </a:rPr>
              <a:pPr/>
              <a:t>8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14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723A-08D0-A539-605C-89ECC597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59D0E3-7AA1-4B78-5B04-85706826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E093B1A-7C8C-E5B4-2623-DE1AE535BEC7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9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BE4D288-DD47-8A53-E378-A1E28BC5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24" y="726984"/>
            <a:ext cx="7213197" cy="3931630"/>
          </a:xfrm>
          <a:prstGeom prst="rect">
            <a:avLst/>
          </a:prstGeom>
        </p:spPr>
      </p:pic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5FF760C2-7E38-3CF5-6FA0-D3E96C6E07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2" t="2114" r="4141"/>
          <a:stretch>
            <a:fillRect/>
          </a:stretch>
        </p:blipFill>
        <p:spPr>
          <a:xfrm>
            <a:off x="6919823" y="2507844"/>
            <a:ext cx="4158114" cy="384850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A69922B-2BC7-5D99-D83A-92F7E33594D0}"/>
              </a:ext>
            </a:extLst>
          </p:cNvPr>
          <p:cNvSpPr txBox="1">
            <a:spLocks/>
          </p:cNvSpPr>
          <p:nvPr/>
        </p:nvSpPr>
        <p:spPr>
          <a:xfrm>
            <a:off x="2681954" y="284565"/>
            <a:ext cx="5974365" cy="4424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Confusion matrices</a:t>
            </a:r>
          </a:p>
        </p:txBody>
      </p:sp>
    </p:spTree>
    <p:extLst>
      <p:ext uri="{BB962C8B-B14F-4D97-AF65-F5344CB8AC3E}">
        <p14:creationId xmlns:p14="http://schemas.microsoft.com/office/powerpoint/2010/main" val="4294095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8999-440C-39B5-E56A-E9C98452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02DBE3-4A55-1B12-45BE-D92D597F9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BFF693E-EB8E-5D7D-B1BD-7450C7D197C0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10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FCCEF8-85E2-9955-0D1D-15CAE7ECA6AE}"/>
              </a:ext>
            </a:extLst>
          </p:cNvPr>
          <p:cNvSpPr txBox="1">
            <a:spLocks/>
          </p:cNvSpPr>
          <p:nvPr/>
        </p:nvSpPr>
        <p:spPr>
          <a:xfrm>
            <a:off x="2908135" y="999554"/>
            <a:ext cx="5974365" cy="4424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t>FEATURE Importance Analysis</a:t>
            </a: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0" name="Content Placeholder 8" descr="A graph with blue bars&#10;&#10;AI-generated content may be incorrect.">
            <a:extLst>
              <a:ext uri="{FF2B5EF4-FFF2-40B4-BE49-F238E27FC236}">
                <a16:creationId xmlns:a16="http://schemas.microsoft.com/office/drawing/2014/main" id="{9263AB22-67BB-C611-3F03-EB9A31B6B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108" y="0"/>
            <a:ext cx="3598484" cy="3803495"/>
          </a:xfrm>
          <a:prstGeom prst="rect">
            <a:avLst/>
          </a:prstGeom>
        </p:spPr>
      </p:pic>
      <p:pic>
        <p:nvPicPr>
          <p:cNvPr id="11" name="Picture 10" descr="A graph with blue bars&#10;&#10;AI-generated content may be incorrect.">
            <a:extLst>
              <a:ext uri="{FF2B5EF4-FFF2-40B4-BE49-F238E27FC236}">
                <a16:creationId xmlns:a16="http://schemas.microsoft.com/office/drawing/2014/main" id="{934834B9-2677-EFD8-CAF6-9CA8135F6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35" y="3803495"/>
            <a:ext cx="3746712" cy="3106905"/>
          </a:xfrm>
          <a:prstGeom prst="rect">
            <a:avLst/>
          </a:prstGeom>
        </p:spPr>
      </p:pic>
      <p:pic>
        <p:nvPicPr>
          <p:cNvPr id="12" name="Content Placeholder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3E5D958-6174-9336-FB05-87135A28F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997" y="1441973"/>
            <a:ext cx="4978111" cy="370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27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1E56-EEF0-41BD-9592-394C6174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D1B418-4B51-F7EB-1999-DB151FDE6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B59964-2B87-6720-B3FF-7BEC487FE168}"/>
              </a:ext>
            </a:extLst>
          </p:cNvPr>
          <p:cNvSpPr txBox="1">
            <a:spLocks/>
          </p:cNvSpPr>
          <p:nvPr/>
        </p:nvSpPr>
        <p:spPr>
          <a:xfrm>
            <a:off x="182210" y="6238232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11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BFF3EB-4618-3F77-854A-4F7358571FFF}"/>
              </a:ext>
            </a:extLst>
          </p:cNvPr>
          <p:cNvSpPr txBox="1">
            <a:spLocks/>
          </p:cNvSpPr>
          <p:nvPr/>
        </p:nvSpPr>
        <p:spPr>
          <a:xfrm>
            <a:off x="1069395" y="565321"/>
            <a:ext cx="9207366" cy="730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Model Comparison</a:t>
            </a:r>
          </a:p>
        </p:txBody>
      </p:sp>
      <p:sp>
        <p:nvSpPr>
          <p:cNvPr id="13" name="Content Placeholder 34">
            <a:extLst>
              <a:ext uri="{FF2B5EF4-FFF2-40B4-BE49-F238E27FC236}">
                <a16:creationId xmlns:a16="http://schemas.microsoft.com/office/drawing/2014/main" id="{8A24DA14-595C-3CEC-568E-8B0B9AA2D416}"/>
              </a:ext>
            </a:extLst>
          </p:cNvPr>
          <p:cNvSpPr txBox="1">
            <a:spLocks/>
          </p:cNvSpPr>
          <p:nvPr/>
        </p:nvSpPr>
        <p:spPr>
          <a:xfrm>
            <a:off x="1857675" y="2211588"/>
            <a:ext cx="6615647" cy="343996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Accuracy comparison between all models was visualized using bar charts.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This helped in: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Identifying the best-performing 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model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Understanding strengths and 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weaknesses of each model</a:t>
            </a:r>
          </a:p>
          <a:p>
            <a:endParaRPr lang="en-US" dirty="0">
              <a:solidFill>
                <a:schemeClr val="bg1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07FBA0F-0161-D3C3-794C-AFA709496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706" y="2663158"/>
            <a:ext cx="6326294" cy="2355346"/>
          </a:xfrm>
          <a:prstGeom prst="rect">
            <a:avLst/>
          </a:prstGeom>
        </p:spPr>
      </p:pic>
      <p:pic>
        <p:nvPicPr>
          <p:cNvPr id="15" name="Picture 14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87461664-E48E-94FD-1199-A76093257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2679" y="32039"/>
            <a:ext cx="4145774" cy="2678895"/>
          </a:xfrm>
          <a:prstGeom prst="rect">
            <a:avLst/>
          </a:prstGeom>
        </p:spPr>
      </p:pic>
      <p:pic>
        <p:nvPicPr>
          <p:cNvPr id="16" name="Picture 15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971D8A9F-72E3-EA27-FCB9-7D1C214F3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215" y="4714871"/>
            <a:ext cx="4337785" cy="211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83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30BF0-0D5B-0539-C0B9-B21C2F76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AB77CB-9AA2-DA95-4B7A-F4E4D7711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A8480E-E43B-EDB4-4D08-33CDCD5F810F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12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22691B-7D86-2A4F-23C4-D5E110D11CFB}"/>
              </a:ext>
            </a:extLst>
          </p:cNvPr>
          <p:cNvSpPr txBox="1">
            <a:spLocks/>
          </p:cNvSpPr>
          <p:nvPr/>
        </p:nvSpPr>
        <p:spPr>
          <a:xfrm>
            <a:off x="1012412" y="-102893"/>
            <a:ext cx="8420100" cy="17808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Decision Tree Visualization</a:t>
            </a:r>
            <a:b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5352E-40F3-725A-6AEE-49E0CFBA1C7E}"/>
              </a:ext>
            </a:extLst>
          </p:cNvPr>
          <p:cNvSpPr txBox="1">
            <a:spLocks/>
          </p:cNvSpPr>
          <p:nvPr/>
        </p:nvSpPr>
        <p:spPr>
          <a:xfrm>
            <a:off x="107571" y="3877239"/>
            <a:ext cx="4248743" cy="298076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Decision Trees were visualized to: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Understand decision-making logic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Interpret model behavior</a:t>
            </a:r>
          </a:p>
          <a:p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The depth was limited to keep the tree readable</a:t>
            </a:r>
          </a:p>
          <a:p>
            <a:endParaRPr lang="en-US" dirty="0">
              <a:solidFill>
                <a:schemeClr val="bg1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E251EBC4-8FAF-3FA5-BCF5-03BB0A2BF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236" y="4898345"/>
            <a:ext cx="4464824" cy="1959655"/>
          </a:xfrm>
          <a:prstGeom prst="rect">
            <a:avLst/>
          </a:prstGeom>
        </p:spPr>
      </p:pic>
      <p:pic>
        <p:nvPicPr>
          <p:cNvPr id="6" name="Picture 5" descr="A diagram of a structure&#10;&#10;AI-generated content may be incorrect.">
            <a:extLst>
              <a:ext uri="{FF2B5EF4-FFF2-40B4-BE49-F238E27FC236}">
                <a16:creationId xmlns:a16="http://schemas.microsoft.com/office/drawing/2014/main" id="{818192C4-89F5-BEC2-75BC-377231A06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376" y="0"/>
            <a:ext cx="4241623" cy="1575074"/>
          </a:xfrm>
          <a:prstGeom prst="rect">
            <a:avLst/>
          </a:prstGeom>
        </p:spPr>
      </p:pic>
      <p:pic>
        <p:nvPicPr>
          <p:cNvPr id="7" name="Picture 6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8E16BFDB-BF8C-9D02-FB59-BE00A8C73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688" y="1615770"/>
            <a:ext cx="4248743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9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8F286-A9B5-9B98-B793-E9C6D9CB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86C55E-B6DD-9458-E688-42DF3B826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6CE877-969E-E598-4778-7F1308EA4216}"/>
              </a:ext>
            </a:extLst>
          </p:cNvPr>
          <p:cNvSpPr txBox="1">
            <a:spLocks/>
          </p:cNvSpPr>
          <p:nvPr/>
        </p:nvSpPr>
        <p:spPr>
          <a:xfrm>
            <a:off x="9579428" y="6356350"/>
            <a:ext cx="1774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en-US">
                <a:latin typeface="Posterama" panose="020B0504020200020000" pitchFamily="34" charset="0"/>
                <a:cs typeface="Posterama" panose="020B0504020200020000" pitchFamily="34" charset="0"/>
              </a:rPr>
              <a:pPr/>
              <a:t>13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919ED48-A920-1FBA-8287-9195192018EF}"/>
              </a:ext>
            </a:extLst>
          </p:cNvPr>
          <p:cNvSpPr txBox="1">
            <a:spLocks/>
          </p:cNvSpPr>
          <p:nvPr/>
        </p:nvSpPr>
        <p:spPr>
          <a:xfrm>
            <a:off x="-2723147" y="1417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GUI</a:t>
            </a:r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</a:p>
        </p:txBody>
      </p:sp>
      <p:pic>
        <p:nvPicPr>
          <p:cNvPr id="9" name="Picture 8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E85C6FC5-71A8-6CEA-3486-F0427C998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433" y="1799185"/>
            <a:ext cx="7899133" cy="4437091"/>
          </a:xfrm>
          <a:prstGeom prst="rect">
            <a:avLst/>
          </a:prstGeom>
        </p:spPr>
      </p:pic>
      <p:pic>
        <p:nvPicPr>
          <p:cNvPr id="10" name="Picture 9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52E904C9-7E6A-12FB-6EC1-C3358F32E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6401" y="4240178"/>
            <a:ext cx="199072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61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2859661"/>
            <a:ext cx="4179570" cy="1138679"/>
          </a:xfrm>
        </p:spPr>
        <p:txBody>
          <a:bodyPr/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>
                <a:latin typeface="Posterama" panose="020B0504020200020000" pitchFamily="34" charset="0"/>
                <a:cs typeface="Posterama" panose="020B0504020200020000" pitchFamily="34" charset="0"/>
              </a:rPr>
              <a:pPr/>
              <a:t>14</a:t>
            </a:fld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{EC48B2C7-5485-4842-AEA9-36762C65DA15}TF7521aafa-c748-4c40-a498-ba511be234dc5b1b6097_win32-5039330bb2f3</Template>
  <TotalTime>133</TotalTime>
  <Words>365</Words>
  <Application>Microsoft Office PowerPoint</Application>
  <PresentationFormat>Widescreen</PresentationFormat>
  <Paragraphs>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Posterama</vt:lpstr>
      <vt:lpstr>Tenorite</vt:lpstr>
      <vt:lpstr>Tenorite (Body)</vt:lpstr>
      <vt:lpstr>Custom</vt:lpstr>
      <vt:lpstr>Rain Prediction </vt:lpstr>
      <vt:lpstr>PowerPoint Presentation</vt:lpstr>
      <vt:lpstr>Prepared by: </vt:lpstr>
      <vt:lpstr>Introduction</vt:lpstr>
      <vt:lpstr>PowerPoint Presentation</vt:lpstr>
      <vt:lpstr>PowerPoint Presentation</vt:lpstr>
      <vt:lpstr>Data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Youstina Mossad</dc:creator>
  <cp:lastModifiedBy>aretaj46@gmail.com</cp:lastModifiedBy>
  <cp:revision>11</cp:revision>
  <dcterms:created xsi:type="dcterms:W3CDTF">2025-12-14T00:46:05Z</dcterms:created>
  <dcterms:modified xsi:type="dcterms:W3CDTF">2025-12-22T12:28:40Z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